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8de9329a02e4f62" /><Relationship Type="http://schemas.openxmlformats.org/officeDocument/2006/relationships/extended-properties" Target="/docProps/app.xml" Id="Rd13c6b75d9c14d12" /><Relationship Type="http://schemas.openxmlformats.org/officeDocument/2006/relationships/officeDocument" Target="/ppt/presentation.xml" Id="R4cf9d1bf14f74b3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4559263ccb84447"/>
  </p:sldMasterIdLst>
  <p:notesMasterIdLst>
    <p:notesMasterId xmlns:r="http://schemas.openxmlformats.org/officeDocument/2006/relationships" r:id="Rbce469f851f247dd"/>
  </p:notesMasterIdLst>
  <p:sldIdLst>
    <p:sldId xmlns:r="http://schemas.openxmlformats.org/officeDocument/2006/relationships" id="256" r:id="R58454b18f8644da4"/>
    <p:sldId xmlns:r="http://schemas.openxmlformats.org/officeDocument/2006/relationships" id="257" r:id="R02343fc6aa00495a"/>
    <p:sldId xmlns:r="http://schemas.openxmlformats.org/officeDocument/2006/relationships" id="258" r:id="R8466f8a8793b4d7f"/>
    <p:sldId xmlns:r="http://schemas.openxmlformats.org/officeDocument/2006/relationships" id="259" r:id="R3beda338536f46ec"/>
    <p:sldId xmlns:r="http://schemas.openxmlformats.org/officeDocument/2006/relationships" id="260" r:id="R2b4229b182ec465d"/>
    <p:sldId xmlns:r="http://schemas.openxmlformats.org/officeDocument/2006/relationships" id="261" r:id="R3e4671d56db043a9"/>
    <p:sldId xmlns:r="http://schemas.openxmlformats.org/officeDocument/2006/relationships" id="262" r:id="Raaf9536377a647ba"/>
    <p:sldId xmlns:r="http://schemas.openxmlformats.org/officeDocument/2006/relationships" id="263" r:id="R582d392f6799493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c87e968eac04bea" /><Relationship Type="http://schemas.openxmlformats.org/officeDocument/2006/relationships/slideMaster" Target="/ppt/slideMasters/slideMaster1.xml" Id="R94559263ccb84447" /><Relationship Type="http://schemas.openxmlformats.org/officeDocument/2006/relationships/notesMaster" Target="/ppt/notesMasters/notesMaster1.xml" Id="Rbce469f851f247dd" /><Relationship Type="http://schemas.openxmlformats.org/officeDocument/2006/relationships/presProps" Target="/ppt/presProps.xml" Id="Rf62db2f73d5f476b" /><Relationship Type="http://schemas.openxmlformats.org/officeDocument/2006/relationships/tableStyles" Target="/ppt/tableStyles.xml" Id="Ra382ceadf638439a" /><Relationship Type="http://schemas.openxmlformats.org/officeDocument/2006/relationships/slide" Target="/ppt/slides/slide1.xml" Id="R58454b18f8644da4" /><Relationship Type="http://schemas.openxmlformats.org/officeDocument/2006/relationships/slide" Target="/ppt/slides/slide2.xml" Id="R02343fc6aa00495a" /><Relationship Type="http://schemas.openxmlformats.org/officeDocument/2006/relationships/slide" Target="/ppt/slides/slide3.xml" Id="R8466f8a8793b4d7f" /><Relationship Type="http://schemas.openxmlformats.org/officeDocument/2006/relationships/slide" Target="/ppt/slides/slide4.xml" Id="R3beda338536f46ec" /><Relationship Type="http://schemas.openxmlformats.org/officeDocument/2006/relationships/slide" Target="/ppt/slides/slide5.xml" Id="R2b4229b182ec465d" /><Relationship Type="http://schemas.openxmlformats.org/officeDocument/2006/relationships/slide" Target="/ppt/slides/slide6.xml" Id="R3e4671d56db043a9" /><Relationship Type="http://schemas.openxmlformats.org/officeDocument/2006/relationships/slide" Target="/ppt/slides/slide7.xml" Id="Raaf9536377a647ba" /><Relationship Type="http://schemas.openxmlformats.org/officeDocument/2006/relationships/slide" Target="/ppt/slides/slide8.xml" Id="R582d392f6799493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83f7cfb1ad445f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ef662f204ee4dbb" /><Relationship Type="http://schemas.openxmlformats.org/officeDocument/2006/relationships/notesMaster" Target="/ppt/notesMasters/notesMaster1.xml" Id="Rd49b357350f0445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f66847b1f4143d6" /><Relationship Type="http://schemas.openxmlformats.org/officeDocument/2006/relationships/notesMaster" Target="/ppt/notesMasters/notesMaster1.xml" Id="R71e4e0cb3a204d5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a286d8a33804b04" /><Relationship Type="http://schemas.openxmlformats.org/officeDocument/2006/relationships/notesMaster" Target="/ppt/notesMasters/notesMaster1.xml" Id="R93e2d835c2e4413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5e0b17196084d57" /><Relationship Type="http://schemas.openxmlformats.org/officeDocument/2006/relationships/notesMaster" Target="/ppt/notesMasters/notesMaster1.xml" Id="R5dcd2e6bd3f3412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afcb1e487c34159" /><Relationship Type="http://schemas.openxmlformats.org/officeDocument/2006/relationships/notesMaster" Target="/ppt/notesMasters/notesMaster1.xml" Id="R2d38bbd80ecc488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056ec4e71654f6e" /><Relationship Type="http://schemas.openxmlformats.org/officeDocument/2006/relationships/notesMaster" Target="/ppt/notesMasters/notesMaster1.xml" Id="R7d079d00168b44e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c9379f6dd854aab" /><Relationship Type="http://schemas.openxmlformats.org/officeDocument/2006/relationships/notesMaster" Target="/ppt/notesMasters/notesMaster1.xml" Id="R86e23d4a6e7840d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3cf32631fe248bb" /><Relationship Type="http://schemas.openxmlformats.org/officeDocument/2006/relationships/notesMaster" Target="/ppt/notesMasters/notesMaster1.xml" Id="Rb22f579f21994fa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Imagina que todas las bases de datos desaparecieran durante cinco minutos. Tu banco no sabría cuánto dinero tienes. Un hospital no podría consultar historiales médicos. Las aerolíneas perderían sus reservas y el instituto, sus matrículas. Las bases de datos sostienen casi toda nuestra sociedad digital.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Imagen generada con IA para esta presentación. Contenido técnico preparado para 1.º de ASIR.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Una base de datos reúne información organizada para consultarla y actualizarla con eficacia. Un sistema gestor añade control de acceso, relaciones entre datos, validación y concurrencia. Así, muchos usuarios pueden trabajar sobre información coherente sin convertirla en una colección de ficheros aislados.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Imagen generada con IA para esta presentación. Contenido técnico preparado para 1.º de ASIR.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Cuando pagas con tarjeta, una base de datos comprueba la cuenta y registra la operación. Hospitales, centros educativos, comercios, videojuegos y transportes dependen de ellas. La inteligencia artificial también necesita grandes cantidades de datos bien almacenados y gobernados.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Imagen generada con IA para esta presentación. Contenido técnico preparado para 1.º de ASIR.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Las bases relacionales conectan tablas y destacan cuando la consistencia resulta crítica. Las documentales aceptan estructuras flexibles. Las bases clave-valor priorizan búsquedas muy rápidas. Los grafos representan conexiones y ayudan a detectar fraude o calcular rutas. Las vectoriales localizan contenidos por similitud y tienen un papel creciente en la inteligencia artificial.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Imagen generada con IA para esta presentación. Contenido técnico preparado para 1.º de ASIR.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Muchos servicios deben funcionar las veinticuatro horas. Las réplicas permiten que otro servidor continúe cuando uno falla. Las copias de seguridad facilitan la recuperación tras errores, averías o ataques. Para ASIR, una base de datos debe funcionar, rendir y poder recuperarse.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Imagen generada con IA para esta presentación. Contenido técnico preparado para 1.º de ASIR.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Una filtración puede exponer credenciales, domicilios o información médica. El ransomware puede cifrar la base y detener una organización. Una inyección SQL aprovecha consultas construidas de forma insegura. Alterar registros silenciosamente puede causar aún más daño que robarlos.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Imagen generada con IA para esta presentación. Contenido técnico preparado para 1.º de ASIR.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Cada cuenta debe tener solo los permisos necesarios. El cifrado protege comunicaciones y datos sensibles. La autenticación multifactor reduce el riesgo de cuentas robadas. Los registros de auditoría ayudan a investigar incidentes. Las copias deben mantenerse aisladas y probarse mediante restauraciones reales.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Imagen generada con IA para esta presentación. Contenido técnico preparado para 1.º de ASIR.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confidencialidad limita el acceso a quienes están autorizados. La integridad mantiene los datos correctos y detecta modificaciones. La disponibilidad permite utilizarlos cuando hacen falta. En una sociedad construida sobre datos, proteger una base de datos significa proteger servicios, derechos y personas. Pregunta final: ¿qué sería más peligroso en un hospital, robar los datos, borrarlos o modificarlos sin que nadie lo detecte?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Imagen generada con IA para esta presentación. Contenido técnico preparado para 1.º de ASIR.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e1a93bc4ec424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ad194a482bc4c56" /><Relationship Type="http://schemas.openxmlformats.org/officeDocument/2006/relationships/slideLayout" Target="/ppt/slideLayouts/slideLayout1.xml" Id="R1a25c67e417b4c4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a25c67e417b4c4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58720324b04090" /><Relationship Type="http://schemas.openxmlformats.org/officeDocument/2006/relationships/image" Target="/ppt/media/image.png" Id="Re9348f474bfd4937" /><Relationship Type="http://schemas.openxmlformats.org/officeDocument/2006/relationships/notesSlide" Target="/ppt/notesSlides/notesSlide1.xml" Id="R7c37c578ad4d4b9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af116ea0f44958" /><Relationship Type="http://schemas.openxmlformats.org/officeDocument/2006/relationships/image" Target="/ppt/media/image2.png" Id="R23ae7daf269c48c0" /><Relationship Type="http://schemas.openxmlformats.org/officeDocument/2006/relationships/notesSlide" Target="/ppt/notesSlides/notesSlide2.xml" Id="R0cb5770272ef4d0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3de4ed64674274" /><Relationship Type="http://schemas.openxmlformats.org/officeDocument/2006/relationships/image" Target="/ppt/media/image3.png" Id="R103c085f0aa64b46" /><Relationship Type="http://schemas.openxmlformats.org/officeDocument/2006/relationships/notesSlide" Target="/ppt/notesSlides/notesSlide3.xml" Id="Rc5f7be078f1b422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b37cce8ba94725" /><Relationship Type="http://schemas.openxmlformats.org/officeDocument/2006/relationships/image" Target="/ppt/media/image4.png" Id="Ree1d1b5b2fc74bd3" /><Relationship Type="http://schemas.openxmlformats.org/officeDocument/2006/relationships/notesSlide" Target="/ppt/notesSlides/notesSlide4.xml" Id="Rbcbf7998f4bd4c9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58c609644f4fa9" /><Relationship Type="http://schemas.openxmlformats.org/officeDocument/2006/relationships/image" Target="/ppt/media/image5.png" Id="Rcfc3254a9bd948aa" /><Relationship Type="http://schemas.openxmlformats.org/officeDocument/2006/relationships/notesSlide" Target="/ppt/notesSlides/notesSlide5.xml" Id="R81d5c283374a42e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bbe77d60444123" /><Relationship Type="http://schemas.openxmlformats.org/officeDocument/2006/relationships/image" Target="/ppt/media/image6.png" Id="R9597852e3b6c4df8" /><Relationship Type="http://schemas.openxmlformats.org/officeDocument/2006/relationships/notesSlide" Target="/ppt/notesSlides/notesSlide6.xml" Id="Re20a20a1b1f64d9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0d4c6ae55e4826" /><Relationship Type="http://schemas.openxmlformats.org/officeDocument/2006/relationships/image" Target="/ppt/media/image7.png" Id="R6b9e57cae0b34e2f" /><Relationship Type="http://schemas.openxmlformats.org/officeDocument/2006/relationships/notesSlide" Target="/ppt/notesSlides/notesSlide7.xml" Id="R2dc11da9ab294a9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7f87b523314d68" /><Relationship Type="http://schemas.openxmlformats.org/officeDocument/2006/relationships/image" Target="/ppt/media/image8.png" Id="R0d720d7171c94bf9" /><Relationship Type="http://schemas.openxmlformats.org/officeDocument/2006/relationships/notesSlide" Target="/ppt/notesSlides/notesSlide8.xml" Id="R8e0407464e2c43e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6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348f474bfd4937"/>
          <a:srcRect xmlns:a="http://schemas.openxmlformats.org/drawingml/2006/main" l="0" t="24987" r="0" b="2498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D20845-EB71-430E-B408-CF63D0337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64B420-366C-4A48-9D0D-E59C1B11C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2286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ACC551-B1F4-472A-AD39-7B0D83D9A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85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5DDF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5DDF4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FF2314-57B7-4A7E-B745-6E64D238D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La infraestructura invisible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06A236-F358-4D19-9E30-7B397ABE0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8640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D8F6F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D8F6FA"/>
                </a:solidFill>
                <a:latin typeface="Aptos"/>
                <a:ea typeface="Aptos"/>
                <a:cs typeface="Aptos"/>
              </a:rPr>
              <a:t>Bases de datos, sociedad y ciberseguridad</a:t>
            </a:r>
          </a:p>
        </p:txBody>
      </p:sp>
    </p:spTree>
    <p:extLst>
      <p:ext uri="{BB962C8B-B14F-4D97-AF65-F5344CB8AC3E}">
        <p14:creationId xmlns:p14="http://schemas.microsoft.com/office/powerpoint/2010/main" val="210837344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6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ae7daf269c48c0"/>
          <a:srcRect xmlns:a="http://schemas.openxmlformats.org/drawingml/2006/main" l="0" t="24987" r="0" b="2498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5C018C-F094-4D19-B964-8513C061A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6B29C5-4E82-49AD-A988-45B2B14D3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2286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8CC4B0-1BD4-495C-A82C-4A7142D17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85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5DDF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5DDF4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ACDA45-9721-4177-A7F4-74FD4F3F8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Datos que adquieren sentido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192C5E-A0D7-4DA2-A7C9-63EE3992C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8640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D8F6F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D8F6FA"/>
                </a:solidFill>
                <a:latin typeface="Aptos"/>
                <a:ea typeface="Aptos"/>
                <a:cs typeface="Aptos"/>
              </a:rPr>
              <a:t>Organización, relaciones, consultas y control de acceso</a:t>
            </a:r>
          </a:p>
        </p:txBody>
      </p:sp>
    </p:spTree>
    <p:extLst>
      <p:ext uri="{BB962C8B-B14F-4D97-AF65-F5344CB8AC3E}">
        <p14:creationId xmlns:p14="http://schemas.microsoft.com/office/powerpoint/2010/main" val="212041240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6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3c085f0aa64b46"/>
          <a:srcRect xmlns:a="http://schemas.openxmlformats.org/drawingml/2006/main" l="0" t="24987" r="0" b="2498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D04369-101B-4DE5-BD42-2BCD2A68A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D575EC-21E4-4C2C-80D6-B521CAB96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2286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6DDFBF-700B-4FCB-91C9-DFF2079B5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85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5DDF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5DDF4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9D7A7A-2FFD-4E26-B73F-5E4F63FF3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Una tecnología presente todo el día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4B72BE-1A2F-4189-B0C0-C11CA2A80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8640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D8F6F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D8F6FA"/>
                </a:solidFill>
                <a:latin typeface="Aptos"/>
                <a:ea typeface="Aptos"/>
                <a:cs typeface="Aptos"/>
              </a:rPr>
              <a:t>Sanidad · banca · educación · transporte · comercio</a:t>
            </a:r>
          </a:p>
        </p:txBody>
      </p:sp>
    </p:spTree>
    <p:extLst>
      <p:ext uri="{BB962C8B-B14F-4D97-AF65-F5344CB8AC3E}">
        <p14:creationId xmlns:p14="http://schemas.microsoft.com/office/powerpoint/2010/main" val="27094224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6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1d1b5b2fc74bd3"/>
          <a:srcRect xmlns:a="http://schemas.openxmlformats.org/drawingml/2006/main" l="0" t="24987" r="0" b="2498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FD37E6-4022-4BD4-A447-76E4E7102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8F0DE0-EB0E-4C39-8284-C8062B0AE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2286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D23C83-DFFD-4D8C-A51E-101C4315D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85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5DDF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5DDF4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B5EA55-3438-4A61-8F4C-D352EE106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Cada problema necesita una estructura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AB7B92-CFD1-4655-A4A8-5D766B79A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8640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D8F6F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D8F6FA"/>
                </a:solidFill>
                <a:latin typeface="Aptos"/>
                <a:ea typeface="Aptos"/>
                <a:cs typeface="Aptos"/>
              </a:rPr>
              <a:t>Relacionales · documentales · clave-valor · grafos · vectoriales</a:t>
            </a:r>
          </a:p>
        </p:txBody>
      </p:sp>
    </p:spTree>
    <p:extLst>
      <p:ext uri="{BB962C8B-B14F-4D97-AF65-F5344CB8AC3E}">
        <p14:creationId xmlns:p14="http://schemas.microsoft.com/office/powerpoint/2010/main" val="146410993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6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c3254a9bd948aa"/>
          <a:srcRect xmlns:a="http://schemas.openxmlformats.org/drawingml/2006/main" l="0" t="24987" r="0" b="2498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AD1EF2-A119-4D96-8DB7-C6FDB65E9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E46D7A-107C-4F05-811B-83F01C251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2286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D47BFE-FC84-4E98-918B-8F4BC37FB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85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5DDF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5DDF4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1F629C-5BCD-480D-B339-33DD139BF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Servicios que no pueden detenerse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3D2E7A-2F8A-44E3-85F2-C2C63F610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8640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D8F6F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D8F6FA"/>
                </a:solidFill>
                <a:latin typeface="Aptos"/>
                <a:ea typeface="Aptos"/>
                <a:cs typeface="Aptos"/>
              </a:rPr>
              <a:t>Réplicas, alta disponibilidad y recuperación</a:t>
            </a:r>
          </a:p>
        </p:txBody>
      </p:sp>
    </p:spTree>
    <p:extLst>
      <p:ext uri="{BB962C8B-B14F-4D97-AF65-F5344CB8AC3E}">
        <p14:creationId xmlns:p14="http://schemas.microsoft.com/office/powerpoint/2010/main" val="30789674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6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97852e3b6c4df8"/>
          <a:srcRect xmlns:a="http://schemas.openxmlformats.org/drawingml/2006/main" l="0" t="24987" r="0" b="2498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5F892C-9521-4E5E-8CA9-880DAB94D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7181A7-1600-4D32-A0E3-2080561A2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2286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FB73D2-A1DD-4546-95CA-68F012F67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85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5DDF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5DDF4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87D635-ACEE-40D6-A813-3D3D189F2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Los datos se han convertido en objetivo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F5EEBD-A7DD-4AC1-A3DF-E3680F8ED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8640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D8F6F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D8F6FA"/>
                </a:solidFill>
                <a:latin typeface="Aptos"/>
                <a:ea typeface="Aptos"/>
                <a:cs typeface="Aptos"/>
              </a:rPr>
              <a:t>Filtraciones · ransomware · inyección SQL · sabotaje</a:t>
            </a:r>
          </a:p>
        </p:txBody>
      </p:sp>
    </p:spTree>
    <p:extLst>
      <p:ext uri="{BB962C8B-B14F-4D97-AF65-F5344CB8AC3E}">
        <p14:creationId xmlns:p14="http://schemas.microsoft.com/office/powerpoint/2010/main" val="182579233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6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9e57cae0b34e2f"/>
          <a:srcRect xmlns:a="http://schemas.openxmlformats.org/drawingml/2006/main" l="0" t="24987" r="0" b="2498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013D83-FB05-484B-84D4-1516F20A8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7B52A2-445E-403E-87A0-8206C5E8E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2286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CE0936-6A3B-4C6A-9B0C-03E613AB4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85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5DDF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5DDF4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6EEDF7-6073-48ED-BF8E-84C3A88DF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La defensa necesita varias capas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DBFCC8-FA5D-4140-A597-5A5B5E3BF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8640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D8F6F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D8F6FA"/>
                </a:solidFill>
                <a:latin typeface="Aptos"/>
                <a:ea typeface="Aptos"/>
                <a:cs typeface="Aptos"/>
              </a:rPr>
              <a:t>Mínimo privilegio · cifrado · MFA · auditoría · copias aisladas</a:t>
            </a:r>
          </a:p>
        </p:txBody>
      </p:sp>
    </p:spTree>
    <p:extLst>
      <p:ext uri="{BB962C8B-B14F-4D97-AF65-F5344CB8AC3E}">
        <p14:creationId xmlns:p14="http://schemas.microsoft.com/office/powerpoint/2010/main" val="149635745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6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720d7171c94bf9"/>
          <a:srcRect xmlns:a="http://schemas.openxmlformats.org/drawingml/2006/main" l="0" t="24987" r="0" b="2498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C31803-5C8C-420E-9CAD-E627D30E3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EE7140-8C18-4486-96D8-97AB0A23D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2286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483777-6207-468D-BD6B-1BF5F196F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85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5DDF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5DDF4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1F5B63-8E77-4851-95D6-C58BB0A69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Proteger los datos protege a las personas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782D52-17D1-4D94-9BBE-3B3AB28A2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8640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D8F6F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D8F6FA"/>
                </a:solidFill>
                <a:latin typeface="Aptos"/>
                <a:ea typeface="Aptos"/>
                <a:cs typeface="Aptos"/>
              </a:rPr>
              <a:t>Confidencialidad · integridad · disponibilidad</a:t>
            </a:r>
          </a:p>
        </p:txBody>
      </p:sp>
    </p:spTree>
    <p:extLst>
      <p:ext uri="{BB962C8B-B14F-4D97-AF65-F5344CB8AC3E}">
        <p14:creationId xmlns:p14="http://schemas.microsoft.com/office/powerpoint/2010/main" val="192438286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2026-09-04T16:02:26.7250000Z</dcterms:created>
  <dcterms:modified xsi:type="dcterms:W3CDTF">2026-09-04T16:02:26.7250000Z</dcterms:modified>
</coreProperties>
</file>