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30670b3b784ad6" /><Relationship Type="http://schemas.openxmlformats.org/officeDocument/2006/relationships/extended-properties" Target="/docProps/app.xml" Id="R9363434e251044c8" /><Relationship Type="http://schemas.openxmlformats.org/officeDocument/2006/relationships/officeDocument" Target="/ppt/presentation.xml" Id="Rd57155abb98846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7110725edc4dc2"/>
  </p:sldMasterIdLst>
  <p:notesMasterIdLst>
    <p:notesMasterId xmlns:r="http://schemas.openxmlformats.org/officeDocument/2006/relationships" r:id="Rd64fd5484ded48ee"/>
  </p:notesMasterIdLst>
  <p:sldIdLst>
    <p:sldId xmlns:r="http://schemas.openxmlformats.org/officeDocument/2006/relationships" id="256" r:id="Rc0288a6d9bde49a5"/>
    <p:sldId xmlns:r="http://schemas.openxmlformats.org/officeDocument/2006/relationships" id="257" r:id="R7a31ca9eef3e4361"/>
    <p:sldId xmlns:r="http://schemas.openxmlformats.org/officeDocument/2006/relationships" id="258" r:id="R767eaa39fda44016"/>
    <p:sldId xmlns:r="http://schemas.openxmlformats.org/officeDocument/2006/relationships" id="259" r:id="R9742d04a06a14804"/>
    <p:sldId xmlns:r="http://schemas.openxmlformats.org/officeDocument/2006/relationships" id="260" r:id="R3e0d4d7a4e3b4121"/>
    <p:sldId xmlns:r="http://schemas.openxmlformats.org/officeDocument/2006/relationships" id="261" r:id="R5f069fa16c1c4ccd"/>
    <p:sldId xmlns:r="http://schemas.openxmlformats.org/officeDocument/2006/relationships" id="262" r:id="R42106ef4c50d4e8f"/>
    <p:sldId xmlns:r="http://schemas.openxmlformats.org/officeDocument/2006/relationships" id="263" r:id="R2c174dfa489b44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ff449eeb7a43ad" /><Relationship Type="http://schemas.openxmlformats.org/officeDocument/2006/relationships/slideMaster" Target="/ppt/slideMasters/slideMaster1.xml" Id="Rfd7110725edc4dc2" /><Relationship Type="http://schemas.openxmlformats.org/officeDocument/2006/relationships/notesMaster" Target="/ppt/notesMasters/notesMaster1.xml" Id="Rd64fd5484ded48ee" /><Relationship Type="http://schemas.openxmlformats.org/officeDocument/2006/relationships/presProps" Target="/ppt/presProps.xml" Id="Rcaae9705c8a241ed" /><Relationship Type="http://schemas.openxmlformats.org/officeDocument/2006/relationships/tableStyles" Target="/ppt/tableStyles.xml" Id="R50ed82a8f6c04313" /><Relationship Type="http://schemas.openxmlformats.org/officeDocument/2006/relationships/slide" Target="/ppt/slides/slide1.xml" Id="Rc0288a6d9bde49a5" /><Relationship Type="http://schemas.openxmlformats.org/officeDocument/2006/relationships/slide" Target="/ppt/slides/slide2.xml" Id="R7a31ca9eef3e4361" /><Relationship Type="http://schemas.openxmlformats.org/officeDocument/2006/relationships/slide" Target="/ppt/slides/slide3.xml" Id="R767eaa39fda44016" /><Relationship Type="http://schemas.openxmlformats.org/officeDocument/2006/relationships/slide" Target="/ppt/slides/slide4.xml" Id="R9742d04a06a14804" /><Relationship Type="http://schemas.openxmlformats.org/officeDocument/2006/relationships/slide" Target="/ppt/slides/slide5.xml" Id="R3e0d4d7a4e3b4121" /><Relationship Type="http://schemas.openxmlformats.org/officeDocument/2006/relationships/slide" Target="/ppt/slides/slide6.xml" Id="R5f069fa16c1c4ccd" /><Relationship Type="http://schemas.openxmlformats.org/officeDocument/2006/relationships/slide" Target="/ppt/slides/slide7.xml" Id="R42106ef4c50d4e8f" /><Relationship Type="http://schemas.openxmlformats.org/officeDocument/2006/relationships/slide" Target="/ppt/slides/slide8.xml" Id="R2c174dfa489b44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558fa9ab8e42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c256089e9d4c49" /><Relationship Type="http://schemas.openxmlformats.org/officeDocument/2006/relationships/notesMaster" Target="/ppt/notesMasters/notesMaster1.xml" Id="Rdd186119298647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0d2503307c498a" /><Relationship Type="http://schemas.openxmlformats.org/officeDocument/2006/relationships/notesMaster" Target="/ppt/notesMasters/notesMaster1.xml" Id="R82955cc4ad184e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fb9e9ee69c4074" /><Relationship Type="http://schemas.openxmlformats.org/officeDocument/2006/relationships/notesMaster" Target="/ppt/notesMasters/notesMaster1.xml" Id="R607c7926c7ab44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a105ef75044417" /><Relationship Type="http://schemas.openxmlformats.org/officeDocument/2006/relationships/notesMaster" Target="/ppt/notesMasters/notesMaster1.xml" Id="R83ee96e451774f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f419df8eed46b5" /><Relationship Type="http://schemas.openxmlformats.org/officeDocument/2006/relationships/notesMaster" Target="/ppt/notesMasters/notesMaster1.xml" Id="R33e6b6810d9c41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34c8f0eab644ac" /><Relationship Type="http://schemas.openxmlformats.org/officeDocument/2006/relationships/notesMaster" Target="/ppt/notesMasters/notesMaster1.xml" Id="Rfd269bce569f4c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e06b0127ac42a9" /><Relationship Type="http://schemas.openxmlformats.org/officeDocument/2006/relationships/notesMaster" Target="/ppt/notesMasters/notesMaster1.xml" Id="Rc98233095aa042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14472d07d949b7" /><Relationship Type="http://schemas.openxmlformats.org/officeDocument/2006/relationships/notesMaster" Target="/ppt/notesMasters/notesMaster1.xml" Id="Rf25092d6471a4f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Imagina que todas las bases de datos desaparecieran durante cinco minutos. Tu banco no sabría cuánto dinero tienes. Un hospital no podría consultar historiales médicos. Las aerolíneas perderían sus reservas y el instituto, sus matrículas. Las bases de datos sostienen casi toda nuestra sociedad digital.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base de datos reúne información organizada para consultarla y actualizarla con eficacia. Un sistema gestor añade control de acceso, relaciones entre datos, validación y concurrencia. Así, muchos usuarios pueden trabajar sobre información coherente sin convertirla en una colección de ficheros aislados.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Cuando pagas con tarjeta, una base de datos comprueba la cuenta y registra la operación. Hospitales, centros educativos, comercios, videojuegos y transportes dependen de ellas. La inteligencia artificial también necesita grandes cantidades de datos bien almacenados y gobernados.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bases relacionales conectan tablas y destacan cuando la consistencia resulta crítica. Las documentales aceptan estructuras flexibles. Las bases clave-valor priorizan búsquedas muy rápidas. Los grafos representan conexiones y ayudan a detectar fraude o calcular rutas. Las vectoriales localizan contenidos por similitud y tienen un papel creciente en la inteligencia artificial.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Muchos servicios deben funcionar las veinticuatro horas. Las réplicas permiten que otro servidor continúe cuando uno falla. Las copias de seguridad facilitan la recuperación tras errores, averías o ataques. Para ASIR, una base de datos debe funcionar, rendir y poder recuperarse.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filtración puede exponer credenciales, domicilios o información médica. El ransomware puede cifrar la base y detener una organización. Una inyección SQL aprovecha consultas construidas de forma insegura. Alterar registros silenciosamente puede causar aún más daño que robarlos.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cuenta debe tener solo los permisos necesarios. El cifrado protege comunicaciones y datos sensibles. La autenticación multifactor reduce el riesgo de cuentas robadas. Los registros de auditoría ayudan a investigar incidentes. Las copias deben mantenerse aisladas y probarse mediante restauraciones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confidencialidad limita el acceso a quienes están autorizados. La integridad mantiene los datos correctos y detecta modificaciones. La disponibilidad permite utilizarlos cuando hacen falta. En una sociedad construida sobre datos, proteger una base de datos significa proteger servicios, derechos y personas. Pregunta final: ¿qué sería más peligroso en un hospital, robar los datos, borrarlos o modificarlos sin que nadie lo detecte?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16914e5d74b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ef290d494a4ba0" /><Relationship Type="http://schemas.openxmlformats.org/officeDocument/2006/relationships/slideLayout" Target="/ppt/slideLayouts/slideLayout1.xml" Id="R90bb778ec7284c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bb778ec7284c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4cdc5c54144e9" /><Relationship Type="http://schemas.openxmlformats.org/officeDocument/2006/relationships/image" Target="/ppt/media/image.png" Id="R18274ac6bf8f482f" /><Relationship Type="http://schemas.openxmlformats.org/officeDocument/2006/relationships/notesSlide" Target="/ppt/notesSlides/notesSlide1.xml" Id="Re1cbd94964d046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e955131f74ce9" /><Relationship Type="http://schemas.openxmlformats.org/officeDocument/2006/relationships/image" Target="/ppt/media/image2.png" Id="R6badaa634e0e40ea" /><Relationship Type="http://schemas.openxmlformats.org/officeDocument/2006/relationships/notesSlide" Target="/ppt/notesSlides/notesSlide2.xml" Id="Rd850da757d8641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7083b6a2b473a" /><Relationship Type="http://schemas.openxmlformats.org/officeDocument/2006/relationships/image" Target="/ppt/media/image3.png" Id="R75f77e0ace194df4" /><Relationship Type="http://schemas.openxmlformats.org/officeDocument/2006/relationships/notesSlide" Target="/ppt/notesSlides/notesSlide3.xml" Id="Rdb13afcbcdd242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fafa710dc43b7" /><Relationship Type="http://schemas.openxmlformats.org/officeDocument/2006/relationships/image" Target="/ppt/media/image4.png" Id="Ra0eb17b7cb3c4ff3" /><Relationship Type="http://schemas.openxmlformats.org/officeDocument/2006/relationships/notesSlide" Target="/ppt/notesSlides/notesSlide4.xml" Id="Rc16e193ca32342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1d1e2eb504b6b" /><Relationship Type="http://schemas.openxmlformats.org/officeDocument/2006/relationships/image" Target="/ppt/media/image5.png" Id="Rcd33766ec6b34ca9" /><Relationship Type="http://schemas.openxmlformats.org/officeDocument/2006/relationships/notesSlide" Target="/ppt/notesSlides/notesSlide5.xml" Id="Rf192681ae5b349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42b4761c84bb3" /><Relationship Type="http://schemas.openxmlformats.org/officeDocument/2006/relationships/image" Target="/ppt/media/image6.png" Id="Ra9d4bbbd6c6f4fdc" /><Relationship Type="http://schemas.openxmlformats.org/officeDocument/2006/relationships/notesSlide" Target="/ppt/notesSlides/notesSlide6.xml" Id="Re33747e386644f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9d83029894706" /><Relationship Type="http://schemas.openxmlformats.org/officeDocument/2006/relationships/image" Target="/ppt/media/image7.png" Id="R8c70d921aa614008" /><Relationship Type="http://schemas.openxmlformats.org/officeDocument/2006/relationships/notesSlide" Target="/ppt/notesSlides/notesSlide7.xml" Id="Rdf16df3870c646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411c75d234740" /><Relationship Type="http://schemas.openxmlformats.org/officeDocument/2006/relationships/image" Target="/ppt/media/image8.png" Id="R123089f4db0d4eb7" /><Relationship Type="http://schemas.openxmlformats.org/officeDocument/2006/relationships/notesSlide" Target="/ppt/notesSlides/notesSlide8.xml" Id="R960acfd0745444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74ac6bf8f482f"/>
          <a:srcRect xmlns:a="http://schemas.openxmlformats.org/drawingml/2006/main" l="0" t="26202" r="0" b="26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FEDB7-FF77-4E2E-84E0-7B8EDBB9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82574-02CD-42DA-81FB-DD850139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55D51-0B57-4C30-BDC4-AD90182D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70220-E957-4858-BC91-5A2F239C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infraestructura invisible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F14DE-C4AC-496A-BD31-1C1551B2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Bases de datos, sociedad y ciberseguridad</a:t>
            </a:r>
          </a:p>
        </p:txBody>
      </p:sp>
    </p:spTree>
    <p:extLst>
      <p:ext uri="{BB962C8B-B14F-4D97-AF65-F5344CB8AC3E}">
        <p14:creationId xmlns:p14="http://schemas.microsoft.com/office/powerpoint/2010/main" val="895277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daa634e0e40ea"/>
          <a:srcRect xmlns:a="http://schemas.openxmlformats.org/drawingml/2006/main" l="0" t="26202" r="0" b="26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27D7F-E815-43B6-AA20-C6F74609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8B47B-1FEF-4FDF-9047-46CB5BAB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A04D9-6E71-4A59-BE13-015C1EC6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A8FBB-01FE-45B9-852A-41ADE9A1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Datos que adquieren sentido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A512D-1BC0-44EB-B36C-9996BB6A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Organización, relaciones, consultas y control de acceso</a:t>
            </a:r>
          </a:p>
        </p:txBody>
      </p:sp>
    </p:spTree>
    <p:extLst>
      <p:ext uri="{BB962C8B-B14F-4D97-AF65-F5344CB8AC3E}">
        <p14:creationId xmlns:p14="http://schemas.microsoft.com/office/powerpoint/2010/main" val="1843809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77e0ace194df4"/>
          <a:srcRect xmlns:a="http://schemas.openxmlformats.org/drawingml/2006/main" l="0" t="26202" r="0" b="26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C1546-7E7B-4E2F-B91A-3B09AB27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3C480-716E-4E6F-89A7-43305ABB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36C69-8CCE-48E5-B4AC-8E3DFA5E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47A16-02EA-4B53-A950-66A9E373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Una tecnología presente todo el día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A00AA-8F8B-4F9A-8F20-6A429D40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Sanidad · banca · educación · transporte · comercio</a:t>
            </a:r>
          </a:p>
        </p:txBody>
      </p:sp>
    </p:spTree>
    <p:extLst>
      <p:ext uri="{BB962C8B-B14F-4D97-AF65-F5344CB8AC3E}">
        <p14:creationId xmlns:p14="http://schemas.microsoft.com/office/powerpoint/2010/main" val="20505733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b17b7cb3c4ff3"/>
          <a:srcRect xmlns:a="http://schemas.openxmlformats.org/drawingml/2006/main" l="0" t="26202" r="0" b="26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7FDB7-E768-43D9-B626-6350EBF5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F7AA5-795A-4A31-A995-C34A3401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4A09D-975B-448E-9708-0F028E97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DA45E-5BF3-46CF-9DE2-0E1607AE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problema necesita una estructura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45033-5EFF-476C-A062-4AE23203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Relacionales · documentales · clave-valor · grafos · vectoriales</a:t>
            </a:r>
          </a:p>
        </p:txBody>
      </p:sp>
    </p:spTree>
    <p:extLst>
      <p:ext uri="{BB962C8B-B14F-4D97-AF65-F5344CB8AC3E}">
        <p14:creationId xmlns:p14="http://schemas.microsoft.com/office/powerpoint/2010/main" val="11825409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3766ec6b34ca9"/>
          <a:srcRect xmlns:a="http://schemas.openxmlformats.org/drawingml/2006/main" l="0" t="26202" r="0" b="26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5040C-28B4-47EA-BBDF-AB8F14F2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49AD8-796D-4DB2-9BB7-944F25FB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71D94-F967-474E-97D9-0F02C084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D34A9-9E27-4D01-8A98-06432FE1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Servicios que no pueden detenerse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239D5-29D7-40F8-BEF7-576068CC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Réplicas, alta disponibilidad y recuperación</a:t>
            </a:r>
          </a:p>
        </p:txBody>
      </p:sp>
    </p:spTree>
    <p:extLst>
      <p:ext uri="{BB962C8B-B14F-4D97-AF65-F5344CB8AC3E}">
        <p14:creationId xmlns:p14="http://schemas.microsoft.com/office/powerpoint/2010/main" val="18179255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4bbbd6c6f4fdc"/>
          <a:srcRect xmlns:a="http://schemas.openxmlformats.org/drawingml/2006/main" l="0" t="26202" r="0" b="26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1BF5E-B501-4CB0-B9BF-F3AB4AC3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BDCB3-DAE7-40CA-AE9D-533FA3E2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C9736-E46D-48B7-9073-D8786B3E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E856F-2BD2-44AC-AEAE-DB619C1A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Los datos se han convertido en objetivo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E72EE-718A-41BA-AF05-BC0C360A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Filtraciones · ransomware · inyección SQL · sabotaje</a:t>
            </a:r>
          </a:p>
        </p:txBody>
      </p:sp>
    </p:spTree>
    <p:extLst>
      <p:ext uri="{BB962C8B-B14F-4D97-AF65-F5344CB8AC3E}">
        <p14:creationId xmlns:p14="http://schemas.microsoft.com/office/powerpoint/2010/main" val="17450289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0d921aa614008"/>
          <a:srcRect xmlns:a="http://schemas.openxmlformats.org/drawingml/2006/main" l="0" t="26202" r="0" b="26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67291-28DE-4B65-A80B-F7632463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441A7-30DE-4700-954E-55BA002C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D612E-3536-4D44-9D07-D696A13E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AA153-CADA-4508-8F8E-9C0F3580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defensa necesita varias capas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DBC7D-0E4B-4516-A766-0232DD1B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Mínimo privilegio · cifrado · MFA · auditoría · copias aisladas</a:t>
            </a:r>
          </a:p>
        </p:txBody>
      </p:sp>
    </p:spTree>
    <p:extLst>
      <p:ext uri="{BB962C8B-B14F-4D97-AF65-F5344CB8AC3E}">
        <p14:creationId xmlns:p14="http://schemas.microsoft.com/office/powerpoint/2010/main" val="11405963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089f4db0d4eb7"/>
          <a:srcRect xmlns:a="http://schemas.openxmlformats.org/drawingml/2006/main" l="0" t="26202" r="0" b="26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080D7-656D-46E3-A75F-2FB627EC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22E08-C928-4740-BAB4-BA9B9C82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E1D40-AE99-4FDB-8916-22D5E759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3521B-BBBE-402A-92B8-61A03E3D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Proteger los datos protege a las personas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A815F-CE5C-4A85-BB27-AAA0639B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Confidencialidad · integridad · disponibilidad</a:t>
            </a:r>
          </a:p>
        </p:txBody>
      </p:sp>
    </p:spTree>
    <p:extLst>
      <p:ext uri="{BB962C8B-B14F-4D97-AF65-F5344CB8AC3E}">
        <p14:creationId xmlns:p14="http://schemas.microsoft.com/office/powerpoint/2010/main" val="928226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2026-09-04T16:06:05.7590000Z</dcterms:created>
  <dcterms:modified xsi:type="dcterms:W3CDTF">2026-09-04T16:06:05.7590000Z</dcterms:modified>
</coreProperties>
</file>