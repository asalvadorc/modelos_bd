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0d04b4c4f34f9e" /><Relationship Type="http://schemas.openxmlformats.org/officeDocument/2006/relationships/extended-properties" Target="/docProps/app.xml" Id="Re19540c2cf874e08" /><Relationship Type="http://schemas.openxmlformats.org/officeDocument/2006/relationships/officeDocument" Target="/ppt/presentation.xml" Id="R4844fe4c705949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f341ea7c024325"/>
  </p:sldMasterIdLst>
  <p:notesMasterIdLst>
    <p:notesMasterId xmlns:r="http://schemas.openxmlformats.org/officeDocument/2006/relationships" r:id="Ra246c640e1e34369"/>
  </p:notesMasterIdLst>
  <p:sldIdLst>
    <p:sldId xmlns:r="http://schemas.openxmlformats.org/officeDocument/2006/relationships" id="256" r:id="R0e387207214f422a"/>
    <p:sldId xmlns:r="http://schemas.openxmlformats.org/officeDocument/2006/relationships" id="257" r:id="R639addfdc27c4dc3"/>
    <p:sldId xmlns:r="http://schemas.openxmlformats.org/officeDocument/2006/relationships" id="258" r:id="Raab9646d09a34b48"/>
    <p:sldId xmlns:r="http://schemas.openxmlformats.org/officeDocument/2006/relationships" id="259" r:id="R59fa0a37dc984c32"/>
    <p:sldId xmlns:r="http://schemas.openxmlformats.org/officeDocument/2006/relationships" id="260" r:id="R2733f916a05b4d53"/>
    <p:sldId xmlns:r="http://schemas.openxmlformats.org/officeDocument/2006/relationships" id="261" r:id="Rcfda56f76d7a4890"/>
    <p:sldId xmlns:r="http://schemas.openxmlformats.org/officeDocument/2006/relationships" id="262" r:id="R55771569820040fb"/>
    <p:sldId xmlns:r="http://schemas.openxmlformats.org/officeDocument/2006/relationships" id="263" r:id="Ra3f4fc4f04364a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1323d491f4876" /><Relationship Type="http://schemas.openxmlformats.org/officeDocument/2006/relationships/slideMaster" Target="/ppt/slideMasters/slideMaster1.xml" Id="Rb7f341ea7c024325" /><Relationship Type="http://schemas.openxmlformats.org/officeDocument/2006/relationships/notesMaster" Target="/ppt/notesMasters/notesMaster1.xml" Id="Ra246c640e1e34369" /><Relationship Type="http://schemas.openxmlformats.org/officeDocument/2006/relationships/presProps" Target="/ppt/presProps.xml" Id="R1e13cd6068c7493d" /><Relationship Type="http://schemas.openxmlformats.org/officeDocument/2006/relationships/tableStyles" Target="/ppt/tableStyles.xml" Id="R1495fa15d7a84d1e" /><Relationship Type="http://schemas.openxmlformats.org/officeDocument/2006/relationships/slide" Target="/ppt/slides/slide1.xml" Id="R0e387207214f422a" /><Relationship Type="http://schemas.openxmlformats.org/officeDocument/2006/relationships/slide" Target="/ppt/slides/slide2.xml" Id="R639addfdc27c4dc3" /><Relationship Type="http://schemas.openxmlformats.org/officeDocument/2006/relationships/slide" Target="/ppt/slides/slide3.xml" Id="Raab9646d09a34b48" /><Relationship Type="http://schemas.openxmlformats.org/officeDocument/2006/relationships/slide" Target="/ppt/slides/slide4.xml" Id="R59fa0a37dc984c32" /><Relationship Type="http://schemas.openxmlformats.org/officeDocument/2006/relationships/slide" Target="/ppt/slides/slide5.xml" Id="R2733f916a05b4d53" /><Relationship Type="http://schemas.openxmlformats.org/officeDocument/2006/relationships/slide" Target="/ppt/slides/slide6.xml" Id="Rcfda56f76d7a4890" /><Relationship Type="http://schemas.openxmlformats.org/officeDocument/2006/relationships/slide" Target="/ppt/slides/slide7.xml" Id="R55771569820040fb" /><Relationship Type="http://schemas.openxmlformats.org/officeDocument/2006/relationships/slide" Target="/ppt/slides/slide8.xml" Id="Ra3f4fc4f0436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88b12dd6f54f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175f7fd2e944e3" /><Relationship Type="http://schemas.openxmlformats.org/officeDocument/2006/relationships/notesMaster" Target="/ppt/notesMasters/notesMaster1.xml" Id="R538cd622a2af49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68a8f3b014012" /><Relationship Type="http://schemas.openxmlformats.org/officeDocument/2006/relationships/notesMaster" Target="/ppt/notesMasters/notesMaster1.xml" Id="R70bbc83f5ca24f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3e084c4e534d05" /><Relationship Type="http://schemas.openxmlformats.org/officeDocument/2006/relationships/notesMaster" Target="/ppt/notesMasters/notesMaster1.xml" Id="R59d4de1f38de4d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cd35a67b844da0" /><Relationship Type="http://schemas.openxmlformats.org/officeDocument/2006/relationships/notesMaster" Target="/ppt/notesMasters/notesMaster1.xml" Id="R43cac467ba0a46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d46ff08cc144d6" /><Relationship Type="http://schemas.openxmlformats.org/officeDocument/2006/relationships/notesMaster" Target="/ppt/notesMasters/notesMaster1.xml" Id="Rfd9b7d256dce45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6a869781614a88" /><Relationship Type="http://schemas.openxmlformats.org/officeDocument/2006/relationships/notesMaster" Target="/ppt/notesMasters/notesMaster1.xml" Id="Re86753a409fe41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a3020c02514d66" /><Relationship Type="http://schemas.openxmlformats.org/officeDocument/2006/relationships/notesMaster" Target="/ppt/notesMasters/notesMaster1.xml" Id="Rf3c5be9502ee4b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3bfda7edc64ed6" /><Relationship Type="http://schemas.openxmlformats.org/officeDocument/2006/relationships/notesMaster" Target="/ppt/notesMasters/notesMaster1.xml" Id="R9bb8b6bbab0f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Imagina que todas las bases de datos desaparecieran durante cinco minutos. Tu banco no sabría cuánto dinero tienes. Un hospital no podría consultar historiales médicos. Las aerolíneas perderían sus reservas y el instituto, sus matrículas. Las bases de datos sostienen casi toda nuestra sociedad digital.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base de datos reúne información organizada para consultarla y actualizarla con eficacia. Un sistema gestor añade control de acceso, relaciones entre datos, validación y concurrencia. Así, muchos usuarios pueden trabajar sobre información coherente sin convertirla en una colección de ficheros aislados.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Cuando pagas con tarjeta, una base de datos comprueba la cuenta y registra la operación. Hospitales, centros educativos, comercios, videojuegos y transportes dependen de ellas. La inteligencia artificial también necesita grandes cantidades de datos bien almacenados y gobernados.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bases relacionales conectan tablas y destacan cuando la consistencia resulta crítica. Las documentales aceptan estructuras flexibles. Las bases clave-valor priorizan búsquedas muy rápidas. Los grafos representan conexiones y ayudan a detectar fraude o calcular rutas. Las vectoriales localizan contenidos por similitud y tienen un papel creciente en la inteligencia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Muchos servicios deben funcionar las veinticuatro horas. Las réplicas permiten que otro servidor continúe cuando uno falla. Las copias de seguridad facilitan la recuperación tras errores, averías o ataques. Para ASIR, una base de datos debe funcionar, rendir y poder recuperarse.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filtración puede exponer credenciales, domicilios o información médica. El ransomware puede cifrar la base y detener una organización. Una inyección SQL aprovecha consultas construidas de forma insegura. Alterar registros silenciosamente puede causar aún más daño que robarlos.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cuenta debe tener solo los permisos necesarios. El cifrado protege comunicaciones y datos sensibles. La autenticación multifactor reduce el riesgo de cuentas robadas. Los registros de auditoría ayudan a investigar incidentes. Las copias deben mantenerse aisladas y probarse mediante restauraciones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confidencialidad limita el acceso a quienes están autorizados. La integridad mantiene los datos correctos y detecta modificaciones. La disponibilidad permite utilizarlos cuando hacen falta. En una sociedad construida sobre datos, proteger una base de datos significa proteger servicios, derechos y personas. Pregunta final: ¿qué sería más peligroso en un hospital, robar los datos, borrarlos o modificarlos sin que nadie lo detecte?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Imagen generada con IA para esta presentación. Contenido técnico preparado para 1.º de ASIR.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d0826d081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816699b18249b7" /><Relationship Type="http://schemas.openxmlformats.org/officeDocument/2006/relationships/slideLayout" Target="/ppt/slideLayouts/slideLayout1.xml" Id="Rdd2cc16fb54344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cc16fb54344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4b5c520b148c2" /><Relationship Type="http://schemas.openxmlformats.org/officeDocument/2006/relationships/image" Target="/ppt/media/image.png" Id="R63aac117b3a24177" /><Relationship Type="http://schemas.openxmlformats.org/officeDocument/2006/relationships/notesSlide" Target="/ppt/notesSlides/notesSlide1.xml" Id="Rba6ad3c604c9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c749da9114641" /><Relationship Type="http://schemas.openxmlformats.org/officeDocument/2006/relationships/image" Target="/ppt/media/image2.png" Id="Rb16653519dc5488c" /><Relationship Type="http://schemas.openxmlformats.org/officeDocument/2006/relationships/notesSlide" Target="/ppt/notesSlides/notesSlide2.xml" Id="Rb7ba3c074d4b44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90c4c7b4e4251" /><Relationship Type="http://schemas.openxmlformats.org/officeDocument/2006/relationships/image" Target="/ppt/media/image3.png" Id="R4b2bddfb04ac43de" /><Relationship Type="http://schemas.openxmlformats.org/officeDocument/2006/relationships/notesSlide" Target="/ppt/notesSlides/notesSlide3.xml" Id="R0b67377967ff4e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cb987ccd04460" /><Relationship Type="http://schemas.openxmlformats.org/officeDocument/2006/relationships/image" Target="/ppt/media/image4.png" Id="R281e8406eb5b4e39" /><Relationship Type="http://schemas.openxmlformats.org/officeDocument/2006/relationships/notesSlide" Target="/ppt/notesSlides/notesSlide4.xml" Id="R28f0b50087e042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cd190ec7f419f" /><Relationship Type="http://schemas.openxmlformats.org/officeDocument/2006/relationships/image" Target="/ppt/media/image5.png" Id="R8f73ea4953ac4e85" /><Relationship Type="http://schemas.openxmlformats.org/officeDocument/2006/relationships/notesSlide" Target="/ppt/notesSlides/notesSlide5.xml" Id="R46ef5b260ad44b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7184b45ea48d8" /><Relationship Type="http://schemas.openxmlformats.org/officeDocument/2006/relationships/image" Target="/ppt/media/image6.png" Id="Rc65ccaff5acb4a57" /><Relationship Type="http://schemas.openxmlformats.org/officeDocument/2006/relationships/notesSlide" Target="/ppt/notesSlides/notesSlide6.xml" Id="R3d19661a196443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3e93f0ba549a4" /><Relationship Type="http://schemas.openxmlformats.org/officeDocument/2006/relationships/image" Target="/ppt/media/image7.png" Id="R2e6ab01f5db54b1a" /><Relationship Type="http://schemas.openxmlformats.org/officeDocument/2006/relationships/notesSlide" Target="/ppt/notesSlides/notesSlide7.xml" Id="R86d19df817774b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19e83e69e4a6f" /><Relationship Type="http://schemas.openxmlformats.org/officeDocument/2006/relationships/image" Target="/ppt/media/image8.png" Id="Rdbc5f9a1cdfd4d46" /><Relationship Type="http://schemas.openxmlformats.org/officeDocument/2006/relationships/notesSlide" Target="/ppt/notesSlides/notesSlide8.xml" Id="Rf61271f25fb9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ac117b3a241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E8785-5514-425C-B072-1D305FD7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96784-9648-432C-B744-DF268C2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EDBBF-5C50-49CD-9240-A0DE1F9F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E1B9C-F5C2-446D-BDA2-E96BA783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infraestructura invisible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140F4-A2D5-4DD6-9F99-9898734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Bases de datos, sociedad y ciberseguridad</a:t>
            </a:r>
          </a:p>
        </p:txBody>
      </p:sp>
    </p:spTree>
    <p:extLst>
      <p:ext uri="{BB962C8B-B14F-4D97-AF65-F5344CB8AC3E}">
        <p14:creationId xmlns:p14="http://schemas.microsoft.com/office/powerpoint/2010/main" val="925253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653519dc548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D067-8A69-408A-BE86-F4FFC0F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B91A7-195E-42FF-8916-3F700B9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36A79-3ADA-4619-A7B7-1B3CB16B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10FC-4D17-4EA4-ADF4-C6DA124A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Datos que adquieren sentido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270CD-1A1F-4B23-B6BB-019ED4B9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Organización, relaciones, consultas y control de acceso</a:t>
            </a:r>
          </a:p>
        </p:txBody>
      </p:sp>
    </p:spTree>
    <p:extLst>
      <p:ext uri="{BB962C8B-B14F-4D97-AF65-F5344CB8AC3E}">
        <p14:creationId xmlns:p14="http://schemas.microsoft.com/office/powerpoint/2010/main" val="2038053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bddfb04ac43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621C7-67BB-4EE4-BD6B-D269DFDD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4F37C-D962-420A-8A58-ED6A8CB9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3BB09-249D-45E8-A216-FD35F3B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F030C-7CCD-4263-8C34-984C70D7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tecnología presente todo el día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C8429-4CAA-4DEC-8D01-2678960C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Sanidad · banca · educación · transporte · comercio</a:t>
            </a:r>
          </a:p>
        </p:txBody>
      </p:sp>
    </p:spTree>
    <p:extLst>
      <p:ext uri="{BB962C8B-B14F-4D97-AF65-F5344CB8AC3E}">
        <p14:creationId xmlns:p14="http://schemas.microsoft.com/office/powerpoint/2010/main" val="15373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e8406eb5b4e3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89416-C89E-4CC3-8668-59161B2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AB466-1EA1-4953-8AC2-DBA3396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0A010-D290-4009-AB6D-D3EBE1C8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4C091-F241-4F98-9085-F4C2CC1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problema necesita una estructura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07957-0CCC-431A-96DC-1CF285AD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Relacionales · documentales · clave-valor · grafos · vectoriales</a:t>
            </a:r>
          </a:p>
        </p:txBody>
      </p:sp>
    </p:spTree>
    <p:extLst>
      <p:ext uri="{BB962C8B-B14F-4D97-AF65-F5344CB8AC3E}">
        <p14:creationId xmlns:p14="http://schemas.microsoft.com/office/powerpoint/2010/main" val="687843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3ea4953ac4e8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75E18-9FEB-45E3-A948-0E8F8DE1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91A87-6C3C-4E76-9023-887289ED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604C4-332A-4741-B011-D4D560EC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1D0B8-2015-4391-A7BE-55F5DC00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Servicios que no pueden detenerse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2DDD-06FB-4C1F-84B3-544E18D2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Réplicas, alta disponibilidad y recuperación</a:t>
            </a:r>
          </a:p>
        </p:txBody>
      </p:sp>
    </p:spTree>
    <p:extLst>
      <p:ext uri="{BB962C8B-B14F-4D97-AF65-F5344CB8AC3E}">
        <p14:creationId xmlns:p14="http://schemas.microsoft.com/office/powerpoint/2010/main" val="10509760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ccaff5acb4a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70103-CCA6-4C45-A9F6-58B66FD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CF830-072D-4C87-9344-79218740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2CE6E-8900-49BE-AF0E-4696EAEA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99868-92BF-4FB2-8E6F-D17D8747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Los datos se han convertido en 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46662-D102-414E-89BD-BEB26AA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Filtraciones · ransomware · inyección SQL · sabotaje</a:t>
            </a:r>
          </a:p>
        </p:txBody>
      </p:sp>
    </p:spTree>
    <p:extLst>
      <p:ext uri="{BB962C8B-B14F-4D97-AF65-F5344CB8AC3E}">
        <p14:creationId xmlns:p14="http://schemas.microsoft.com/office/powerpoint/2010/main" val="77586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ab01f5db54b1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A996A-0189-4285-969A-DE08169C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D6543-32EA-4A6C-8CCA-65BA618F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866B0-16BC-4121-90D8-2F40F27E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13D49-9938-4134-B337-BE2818D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defensa necesita varias capas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0C761-F75F-4B23-8B33-74B9A49A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Mínimo privilegio · cifrado · MFA · auditoría · copias aisladas</a:t>
            </a:r>
          </a:p>
        </p:txBody>
      </p:sp>
    </p:spTree>
    <p:extLst>
      <p:ext uri="{BB962C8B-B14F-4D97-AF65-F5344CB8AC3E}">
        <p14:creationId xmlns:p14="http://schemas.microsoft.com/office/powerpoint/2010/main" val="1018733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5f9a1cdfd4d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36AD7-A686-4684-B809-3670B20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0CEB8-E543-4B1F-A2E2-77DC1815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22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6867C-D8B3-4A67-AA1C-5A3F10C9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DDF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DDF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46D00-EDDA-4E44-A0EA-F4735C67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Proteger los datos protege a las personas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846F7-DC84-4C97-8A42-75E44AEC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8F6F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F6FA"/>
                </a:solidFill>
                <a:latin typeface="Aptos"/>
                <a:ea typeface="Aptos"/>
                <a:cs typeface="Aptos"/>
              </a:rPr>
              <a:t>Confidencialidad · integridad · disponibilidad</a:t>
            </a:r>
          </a:p>
        </p:txBody>
      </p:sp>
    </p:spTree>
    <p:extLst>
      <p:ext uri="{BB962C8B-B14F-4D97-AF65-F5344CB8AC3E}">
        <p14:creationId xmlns:p14="http://schemas.microsoft.com/office/powerpoint/2010/main" val="1482532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2026-09-04T16:00:03.1200000Z</dcterms:created>
  <dcterms:modified xsi:type="dcterms:W3CDTF">2026-09-04T16:00:03.1200000Z</dcterms:modified>
</coreProperties>
</file>